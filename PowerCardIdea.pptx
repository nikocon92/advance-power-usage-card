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10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0B22-857A-1747-E8AC-03F6210AA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B9C759-CE95-44C3-2B79-DCCFF6DD9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5B9E9-593A-D5A4-65E9-21EC8B8B9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D810-D9F0-4379-91EC-97D7D178EF43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3B581-CF85-38A2-297F-35BF42575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69952-2678-7FEB-61ED-3D6D08DF2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EF20-E107-40D8-8257-EA3926E2C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133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711F6-AA1C-D420-1D4A-2A19CA10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939F9-B3C4-732A-BEE0-CB567EA3D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167DF-3BF0-1372-42B7-B822857C1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D810-D9F0-4379-91EC-97D7D178EF43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F26AA-5C62-B43A-E95D-7CCFA1DE4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8D8A8-2CB1-AA59-ABDA-0A68D4F1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EF20-E107-40D8-8257-EA3926E2C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262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35481-F2A3-F940-715F-7DC85FF8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9CF17-168F-D29A-24CE-0FCA9415D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466DA-8589-53DE-0D54-DDB828CBC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D810-D9F0-4379-91EC-97D7D178EF43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65DAA-7D74-63A5-EEB9-B80A99BD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AEDEF-ED91-F24B-FC72-2D65985D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EF20-E107-40D8-8257-EA3926E2C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077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0E690-F813-E65D-A6E8-09C5CBEBE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FEFA1-91B2-4674-E0C6-75AB5A67AB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BD6D0-D115-5E0C-CA22-C214225DC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53F84-4D50-E53C-BFDE-9767288F5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D810-D9F0-4379-91EC-97D7D178EF43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7B796-12A5-516B-2313-37CD87D0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14561-01CE-8B6E-30C0-ED5E9164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EF20-E107-40D8-8257-EA3926E2C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662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B61C-C2BC-D1F3-978C-53CDFCD0C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30C37-8A34-A6F8-1914-0CD5C3406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EA01E-076D-8625-60E5-7094A5CBC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0DDA2A-7184-7DD8-B5FD-446355B01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253B38-1476-9A76-44A4-9E8A3F7B64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72B28F-4EE9-C9FF-5A3D-7BAED5CE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D810-D9F0-4379-91EC-97D7D178EF43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F5135-AA8F-FF64-3DF5-FB418D82C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0281E5-F715-BE32-FC3F-E9EDA144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EF20-E107-40D8-8257-EA3926E2C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457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F3AD-E6FA-DD04-F3E7-533D1F844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E6D4FD-BC07-FF50-7717-545D8C9A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D810-D9F0-4379-91EC-97D7D178EF43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C7C46-4840-E3E0-24D7-CA8936CF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24300-BB9E-10B1-9C08-DB2D53BAC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EF20-E107-40D8-8257-EA3926E2C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81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CB8A33-A11E-9E5E-C205-9ED79589D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D810-D9F0-4379-91EC-97D7D178EF43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A22105-4E09-1545-E30A-105FAF00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3F222-CDFA-7B1D-15CB-173AB5AAA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EF20-E107-40D8-8257-EA3926E2C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291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2CEC-75A1-9B06-4084-F5F58D0B5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67F1A-15B5-D159-2066-081A9FC17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59ADC-FDF1-B274-517B-9124ECD01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B18BB-A05E-3D92-2BFD-D7B671F7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D810-D9F0-4379-91EC-97D7D178EF43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2A74B-515E-57EA-DD8E-74891178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2A796-EE7F-B039-22ED-8A3BF4B7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EF20-E107-40D8-8257-EA3926E2C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641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E0098-7F2B-4F5E-41BA-4B94A3214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E0987A-923A-4759-F32E-F527CB746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9BF85-3F5B-B0FC-71DB-2E0496FA4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43750-29D2-AF30-C7B4-CAE81F2F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D810-D9F0-4379-91EC-97D7D178EF43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135BB-920B-C910-F1DD-4F1F2E94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145CC-3039-7D7D-6EAC-EF1D6463D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EF20-E107-40D8-8257-EA3926E2C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321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0266E-50CE-258C-49C2-6E4B08103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0575A-C383-0C53-8912-FF49C74A5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5F838-3F02-5630-C169-348551C8A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D810-D9F0-4379-91EC-97D7D178EF43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FB834-7D50-CDC2-6274-AA6558E55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88AC7-78DA-A235-9F33-9DF22727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EF20-E107-40D8-8257-EA3926E2C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68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41B581-ACE5-C1E5-2E3A-BCB5C8833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06755-AFD3-027A-A27E-E7F39C3FE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44770-F6FE-31AC-8440-A7419038C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FD810-D9F0-4379-91EC-97D7D178EF43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FAD97-614F-7C49-75EB-7E876CCB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96701-77CC-DB54-AAA2-098F6726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8EF20-E107-40D8-8257-EA3926E2C5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325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0E6A1D-E20F-E600-C058-25052946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59703-2AEC-DE46-5CEA-13096675D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F713A-EF95-3DFE-5CB5-C28F2A2A1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FD810-D9F0-4379-91EC-97D7D178EF43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8AB1B-1FBB-2618-0A09-62DF09C4A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BC8C-6246-9747-F721-1857FD4FA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8EF20-E107-40D8-8257-EA3926E2C50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9B00CB-8E2B-F6B3-3748-EED0EFD484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15100"/>
            <a:ext cx="171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737373">
                    <a:alpha val="50000"/>
                  </a:srgbClr>
                </a:solidFill>
                <a:latin typeface="Aptos" panose="020B0004020202020204" pitchFamily="34" charset="0"/>
              </a:rPr>
              <a:t>Caterpillar: Confidential Green</a:t>
            </a:r>
          </a:p>
        </p:txBody>
      </p:sp>
    </p:spTree>
    <p:extLst>
      <p:ext uri="{BB962C8B-B14F-4D97-AF65-F5344CB8AC3E}">
        <p14:creationId xmlns:p14="http://schemas.microsoft.com/office/powerpoint/2010/main" val="1092721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DA4EE1-9EBF-D764-24BB-5BEE576AF98B}"/>
              </a:ext>
            </a:extLst>
          </p:cNvPr>
          <p:cNvSpPr/>
          <p:nvPr/>
        </p:nvSpPr>
        <p:spPr>
          <a:xfrm>
            <a:off x="4415300" y="395926"/>
            <a:ext cx="4430597" cy="62754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F4A2F-CAA6-3ED0-3DC5-B392F0E3B479}"/>
              </a:ext>
            </a:extLst>
          </p:cNvPr>
          <p:cNvSpPr txBox="1"/>
          <p:nvPr/>
        </p:nvSpPr>
        <p:spPr>
          <a:xfrm>
            <a:off x="4415300" y="395926"/>
            <a:ext cx="29258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Total Consumption: 1500w</a:t>
            </a:r>
          </a:p>
          <a:p>
            <a:r>
              <a:rPr lang="en-GB" dirty="0"/>
              <a:t>Current Cost Rate: £0.82/hr</a:t>
            </a:r>
          </a:p>
          <a:p>
            <a:r>
              <a:rPr lang="en-GB" dirty="0"/>
              <a:t>Total Cost: £2.01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E363C-F2D1-927B-D19D-C14D03326F0F}"/>
              </a:ext>
            </a:extLst>
          </p:cNvPr>
          <p:cNvSpPr txBox="1"/>
          <p:nvPr/>
        </p:nvSpPr>
        <p:spPr>
          <a:xfrm>
            <a:off x="7633129" y="395926"/>
            <a:ext cx="1212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21p/kW.hr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AA5603-2294-0D6A-35FE-A6E12A3435B1}"/>
              </a:ext>
            </a:extLst>
          </p:cNvPr>
          <p:cNvSpPr/>
          <p:nvPr/>
        </p:nvSpPr>
        <p:spPr>
          <a:xfrm>
            <a:off x="7641044" y="719091"/>
            <a:ext cx="1167146" cy="268069"/>
          </a:xfrm>
          <a:prstGeom prst="roundRect">
            <a:avLst/>
          </a:prstGeom>
          <a:gradFill flip="none" rotWithShape="1">
            <a:gsLst>
              <a:gs pos="66000">
                <a:srgbClr val="FFC000"/>
              </a:gs>
              <a:gs pos="33000">
                <a:srgbClr val="00B050"/>
              </a:gs>
              <a:gs pos="0">
                <a:srgbClr val="0070C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898B38-4F61-EC75-6D56-F4E6DCE65CAB}"/>
              </a:ext>
            </a:extLst>
          </p:cNvPr>
          <p:cNvCxnSpPr/>
          <p:nvPr/>
        </p:nvCxnSpPr>
        <p:spPr>
          <a:xfrm flipH="1">
            <a:off x="8685642" y="395926"/>
            <a:ext cx="669303" cy="1036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6AE0AA3-732C-B5AF-7AEF-2C8836EBFBE4}"/>
              </a:ext>
            </a:extLst>
          </p:cNvPr>
          <p:cNvSpPr txBox="1"/>
          <p:nvPr/>
        </p:nvSpPr>
        <p:spPr>
          <a:xfrm flipH="1">
            <a:off x="9324836" y="134316"/>
            <a:ext cx="2867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Entity specifying current cost of </a:t>
            </a:r>
            <a:r>
              <a:rPr lang="en-GB" sz="1400" dirty="0" err="1">
                <a:solidFill>
                  <a:srgbClr val="FF0000"/>
                </a:solidFill>
              </a:rPr>
              <a:t>eletrictiy</a:t>
            </a:r>
            <a:r>
              <a:rPr lang="en-GB" sz="1400" dirty="0">
                <a:solidFill>
                  <a:srgbClr val="FF0000"/>
                </a:solidFill>
              </a:rPr>
              <a:t> per </a:t>
            </a:r>
            <a:r>
              <a:rPr lang="en-GB" sz="1400" dirty="0" err="1">
                <a:solidFill>
                  <a:srgbClr val="FF0000"/>
                </a:solidFill>
              </a:rPr>
              <a:t>kW.h</a:t>
            </a:r>
            <a:endParaRPr lang="en-GB" sz="14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F3D86E-BF07-FB2A-2B64-ED97F4708542}"/>
              </a:ext>
            </a:extLst>
          </p:cNvPr>
          <p:cNvCxnSpPr>
            <a:cxnSpLocks/>
          </p:cNvCxnSpPr>
          <p:nvPr/>
        </p:nvCxnSpPr>
        <p:spPr>
          <a:xfrm>
            <a:off x="3775192" y="277363"/>
            <a:ext cx="740247" cy="297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47016C1-D1FC-F3F0-C163-8F45AD280FC9}"/>
              </a:ext>
            </a:extLst>
          </p:cNvPr>
          <p:cNvSpPr txBox="1"/>
          <p:nvPr/>
        </p:nvSpPr>
        <p:spPr>
          <a:xfrm flipH="1">
            <a:off x="1069197" y="101097"/>
            <a:ext cx="286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Entity: Current total consumption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69809B-DA83-947A-0045-84E2CF23D999}"/>
              </a:ext>
            </a:extLst>
          </p:cNvPr>
          <p:cNvSpPr txBox="1"/>
          <p:nvPr/>
        </p:nvSpPr>
        <p:spPr>
          <a:xfrm flipH="1">
            <a:off x="1069197" y="503648"/>
            <a:ext cx="2867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Calculation: Uses entity for total consumption and current rate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B480EB-8E92-89EF-A134-267945FA7DD9}"/>
              </a:ext>
            </a:extLst>
          </p:cNvPr>
          <p:cNvCxnSpPr>
            <a:cxnSpLocks/>
          </p:cNvCxnSpPr>
          <p:nvPr/>
        </p:nvCxnSpPr>
        <p:spPr>
          <a:xfrm>
            <a:off x="3487702" y="794507"/>
            <a:ext cx="1046198" cy="55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D8F7D2D-9681-10A5-795A-BF704B170CD5}"/>
              </a:ext>
            </a:extLst>
          </p:cNvPr>
          <p:cNvSpPr txBox="1"/>
          <p:nvPr/>
        </p:nvSpPr>
        <p:spPr>
          <a:xfrm>
            <a:off x="4415300" y="1650929"/>
            <a:ext cx="1359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Washing Machine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A3EF81E-3E2E-3D80-3B7C-F07721EC09E3}"/>
              </a:ext>
            </a:extLst>
          </p:cNvPr>
          <p:cNvSpPr/>
          <p:nvPr/>
        </p:nvSpPr>
        <p:spPr>
          <a:xfrm>
            <a:off x="5833461" y="1655394"/>
            <a:ext cx="1903308" cy="268069"/>
          </a:xfrm>
          <a:prstGeom prst="roundRect">
            <a:avLst/>
          </a:prstGeom>
          <a:gradFill flip="none" rotWithShape="1">
            <a:gsLst>
              <a:gs pos="66000">
                <a:srgbClr val="FFC000"/>
              </a:gs>
              <a:gs pos="33000">
                <a:srgbClr val="00B050"/>
              </a:gs>
              <a:gs pos="0">
                <a:srgbClr val="0070C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A3F1A22-10AE-00BE-76D3-597DFBA3042B}"/>
              </a:ext>
            </a:extLst>
          </p:cNvPr>
          <p:cNvSpPr/>
          <p:nvPr/>
        </p:nvSpPr>
        <p:spPr>
          <a:xfrm>
            <a:off x="7736769" y="947691"/>
            <a:ext cx="207766" cy="17910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231398B-3B0E-0492-EB05-0D3D5714C7DF}"/>
              </a:ext>
            </a:extLst>
          </p:cNvPr>
          <p:cNvSpPr/>
          <p:nvPr/>
        </p:nvSpPr>
        <p:spPr>
          <a:xfrm>
            <a:off x="6140180" y="1842095"/>
            <a:ext cx="207766" cy="17910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CE70E0-B289-A200-F67E-D1EEB7E95C12}"/>
              </a:ext>
            </a:extLst>
          </p:cNvPr>
          <p:cNvSpPr txBox="1"/>
          <p:nvPr/>
        </p:nvSpPr>
        <p:spPr>
          <a:xfrm>
            <a:off x="7669123" y="1650929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£0.12/hr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F20F12-5C02-B57F-95AF-7A63D0FC3848}"/>
              </a:ext>
            </a:extLst>
          </p:cNvPr>
          <p:cNvSpPr txBox="1"/>
          <p:nvPr/>
        </p:nvSpPr>
        <p:spPr>
          <a:xfrm>
            <a:off x="4415300" y="2105699"/>
            <a:ext cx="10713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Tumble Dryer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A01481-9552-66DC-8D7B-5B52394519C0}"/>
              </a:ext>
            </a:extLst>
          </p:cNvPr>
          <p:cNvSpPr/>
          <p:nvPr/>
        </p:nvSpPr>
        <p:spPr>
          <a:xfrm>
            <a:off x="5833461" y="2110164"/>
            <a:ext cx="1903308" cy="268069"/>
          </a:xfrm>
          <a:prstGeom prst="roundRect">
            <a:avLst/>
          </a:prstGeom>
          <a:gradFill flip="none" rotWithShape="1">
            <a:gsLst>
              <a:gs pos="66000">
                <a:srgbClr val="FFC000"/>
              </a:gs>
              <a:gs pos="33000">
                <a:srgbClr val="00B050"/>
              </a:gs>
              <a:gs pos="0">
                <a:srgbClr val="0070C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8E76BE7C-CE2E-F30F-CB3B-6268AA6A70EE}"/>
              </a:ext>
            </a:extLst>
          </p:cNvPr>
          <p:cNvSpPr/>
          <p:nvPr/>
        </p:nvSpPr>
        <p:spPr>
          <a:xfrm>
            <a:off x="6779207" y="2296865"/>
            <a:ext cx="207766" cy="17910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631CBB-D277-4940-B87D-9160DDE8C16A}"/>
              </a:ext>
            </a:extLst>
          </p:cNvPr>
          <p:cNvSpPr txBox="1"/>
          <p:nvPr/>
        </p:nvSpPr>
        <p:spPr>
          <a:xfrm>
            <a:off x="7669123" y="2105699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£0.82/hr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51C2BA-BA09-4E0B-8387-EA1EBE87B54F}"/>
              </a:ext>
            </a:extLst>
          </p:cNvPr>
          <p:cNvSpPr txBox="1"/>
          <p:nvPr/>
        </p:nvSpPr>
        <p:spPr>
          <a:xfrm>
            <a:off x="4415300" y="2563580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Nick Desk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740543-88BE-1A3C-80E0-988B43EFB7F2}"/>
              </a:ext>
            </a:extLst>
          </p:cNvPr>
          <p:cNvSpPr/>
          <p:nvPr/>
        </p:nvSpPr>
        <p:spPr>
          <a:xfrm>
            <a:off x="5833461" y="2568045"/>
            <a:ext cx="1903308" cy="268069"/>
          </a:xfrm>
          <a:prstGeom prst="roundRect">
            <a:avLst/>
          </a:prstGeom>
          <a:gradFill flip="none" rotWithShape="1">
            <a:gsLst>
              <a:gs pos="66000">
                <a:srgbClr val="FFC000"/>
              </a:gs>
              <a:gs pos="33000">
                <a:srgbClr val="00B050"/>
              </a:gs>
              <a:gs pos="0">
                <a:srgbClr val="0070C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EDFD6C65-D266-0454-210E-EAE70EA5B470}"/>
              </a:ext>
            </a:extLst>
          </p:cNvPr>
          <p:cNvSpPr/>
          <p:nvPr/>
        </p:nvSpPr>
        <p:spPr>
          <a:xfrm>
            <a:off x="7314009" y="2754746"/>
            <a:ext cx="207766" cy="17910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A6D3DC-BC6D-3DE2-FAE8-BD6C40FE3B89}"/>
              </a:ext>
            </a:extLst>
          </p:cNvPr>
          <p:cNvSpPr txBox="1"/>
          <p:nvPr/>
        </p:nvSpPr>
        <p:spPr>
          <a:xfrm>
            <a:off x="7669123" y="2563580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£1.32/hr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AE3A66-374B-8BDB-1DB2-384565097EF3}"/>
              </a:ext>
            </a:extLst>
          </p:cNvPr>
          <p:cNvSpPr txBox="1"/>
          <p:nvPr/>
        </p:nvSpPr>
        <p:spPr>
          <a:xfrm>
            <a:off x="4415300" y="3018350"/>
            <a:ext cx="8460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3D Printer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B2327DE-0239-2E4D-62E9-C298FAB44DD6}"/>
              </a:ext>
            </a:extLst>
          </p:cNvPr>
          <p:cNvSpPr/>
          <p:nvPr/>
        </p:nvSpPr>
        <p:spPr>
          <a:xfrm>
            <a:off x="5833461" y="3022815"/>
            <a:ext cx="1903308" cy="268069"/>
          </a:xfrm>
          <a:prstGeom prst="roundRect">
            <a:avLst/>
          </a:prstGeom>
          <a:gradFill flip="none" rotWithShape="1">
            <a:gsLst>
              <a:gs pos="66000">
                <a:srgbClr val="FFC000"/>
              </a:gs>
              <a:gs pos="33000">
                <a:srgbClr val="00B050"/>
              </a:gs>
              <a:gs pos="0">
                <a:srgbClr val="0070C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790949C3-6EFA-EA82-457D-A9436F2BE1C8}"/>
              </a:ext>
            </a:extLst>
          </p:cNvPr>
          <p:cNvSpPr/>
          <p:nvPr/>
        </p:nvSpPr>
        <p:spPr>
          <a:xfrm>
            <a:off x="6526715" y="3209516"/>
            <a:ext cx="207766" cy="17910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8A1692-AA7F-C9E0-7A23-927EBA44838E}"/>
              </a:ext>
            </a:extLst>
          </p:cNvPr>
          <p:cNvSpPr txBox="1"/>
          <p:nvPr/>
        </p:nvSpPr>
        <p:spPr>
          <a:xfrm>
            <a:off x="7669123" y="3018350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£0.32/hr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2A879E-C53A-5617-E092-7120E1BD5864}"/>
              </a:ext>
            </a:extLst>
          </p:cNvPr>
          <p:cNvSpPr txBox="1"/>
          <p:nvPr/>
        </p:nvSpPr>
        <p:spPr>
          <a:xfrm>
            <a:off x="4415300" y="3481225"/>
            <a:ext cx="348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TV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FFFA90D-DD59-DD05-0E17-DD8FEFE74103}"/>
              </a:ext>
            </a:extLst>
          </p:cNvPr>
          <p:cNvSpPr/>
          <p:nvPr/>
        </p:nvSpPr>
        <p:spPr>
          <a:xfrm>
            <a:off x="5833461" y="3485690"/>
            <a:ext cx="1903308" cy="268069"/>
          </a:xfrm>
          <a:prstGeom prst="roundRect">
            <a:avLst/>
          </a:prstGeom>
          <a:gradFill flip="none" rotWithShape="1">
            <a:gsLst>
              <a:gs pos="66000">
                <a:srgbClr val="FFC000"/>
              </a:gs>
              <a:gs pos="33000">
                <a:srgbClr val="00B050"/>
              </a:gs>
              <a:gs pos="0">
                <a:srgbClr val="0070C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1AE1B115-B4CF-4DB0-FBC7-D4DC2F30D4B1}"/>
              </a:ext>
            </a:extLst>
          </p:cNvPr>
          <p:cNvSpPr/>
          <p:nvPr/>
        </p:nvSpPr>
        <p:spPr>
          <a:xfrm>
            <a:off x="6096000" y="3672391"/>
            <a:ext cx="207766" cy="17910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7CD0BF-047D-65F9-687E-35EC5386EDF6}"/>
              </a:ext>
            </a:extLst>
          </p:cNvPr>
          <p:cNvSpPr txBox="1"/>
          <p:nvPr/>
        </p:nvSpPr>
        <p:spPr>
          <a:xfrm>
            <a:off x="7669123" y="3481225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£0.10/hr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818D62-BBD1-70C5-6FA3-0CB3FE1D2A9A}"/>
              </a:ext>
            </a:extLst>
          </p:cNvPr>
          <p:cNvSpPr txBox="1"/>
          <p:nvPr/>
        </p:nvSpPr>
        <p:spPr>
          <a:xfrm>
            <a:off x="4415300" y="3935995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DB2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FE14CF8-A9DB-6265-4E51-BD5D49E98860}"/>
              </a:ext>
            </a:extLst>
          </p:cNvPr>
          <p:cNvSpPr/>
          <p:nvPr/>
        </p:nvSpPr>
        <p:spPr>
          <a:xfrm>
            <a:off x="5833461" y="3940460"/>
            <a:ext cx="1903308" cy="268069"/>
          </a:xfrm>
          <a:prstGeom prst="roundRect">
            <a:avLst/>
          </a:prstGeom>
          <a:gradFill flip="none" rotWithShape="1">
            <a:gsLst>
              <a:gs pos="66000">
                <a:srgbClr val="FFC000"/>
              </a:gs>
              <a:gs pos="33000">
                <a:srgbClr val="00B050"/>
              </a:gs>
              <a:gs pos="0">
                <a:srgbClr val="0070C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CE9D3C3-511B-DE72-BEE9-1A7191D33FC9}"/>
              </a:ext>
            </a:extLst>
          </p:cNvPr>
          <p:cNvSpPr/>
          <p:nvPr/>
        </p:nvSpPr>
        <p:spPr>
          <a:xfrm>
            <a:off x="7103744" y="4127161"/>
            <a:ext cx="207766" cy="17910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6087A9-123C-9239-B513-885ECB451E1F}"/>
              </a:ext>
            </a:extLst>
          </p:cNvPr>
          <p:cNvSpPr txBox="1"/>
          <p:nvPr/>
        </p:nvSpPr>
        <p:spPr>
          <a:xfrm>
            <a:off x="7669123" y="3935995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£1.02/hr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0486B0-4414-2824-4C2E-95E7F5C320AC}"/>
              </a:ext>
            </a:extLst>
          </p:cNvPr>
          <p:cNvSpPr txBox="1"/>
          <p:nvPr/>
        </p:nvSpPr>
        <p:spPr>
          <a:xfrm>
            <a:off x="4422412" y="4386300"/>
            <a:ext cx="594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Fridge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60AEDED-86F3-D094-1261-703E21672B8B}"/>
              </a:ext>
            </a:extLst>
          </p:cNvPr>
          <p:cNvSpPr/>
          <p:nvPr/>
        </p:nvSpPr>
        <p:spPr>
          <a:xfrm>
            <a:off x="5840573" y="4390765"/>
            <a:ext cx="1903308" cy="268069"/>
          </a:xfrm>
          <a:prstGeom prst="roundRect">
            <a:avLst/>
          </a:prstGeom>
          <a:gradFill flip="none" rotWithShape="1">
            <a:gsLst>
              <a:gs pos="66000">
                <a:srgbClr val="FFC000"/>
              </a:gs>
              <a:gs pos="33000">
                <a:srgbClr val="00B050"/>
              </a:gs>
              <a:gs pos="0">
                <a:srgbClr val="0070C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0C9733C6-B7A8-DF22-B5A9-27B0813AB246}"/>
              </a:ext>
            </a:extLst>
          </p:cNvPr>
          <p:cNvSpPr/>
          <p:nvPr/>
        </p:nvSpPr>
        <p:spPr>
          <a:xfrm>
            <a:off x="6147292" y="4577466"/>
            <a:ext cx="207766" cy="17910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E9779F-BF8F-84B2-0558-30DFB80D83C8}"/>
              </a:ext>
            </a:extLst>
          </p:cNvPr>
          <p:cNvSpPr txBox="1"/>
          <p:nvPr/>
        </p:nvSpPr>
        <p:spPr>
          <a:xfrm>
            <a:off x="7676235" y="4386300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£0.12/hr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EC1845-1C54-4183-987B-2EEEF8D67696}"/>
              </a:ext>
            </a:extLst>
          </p:cNvPr>
          <p:cNvSpPr txBox="1"/>
          <p:nvPr/>
        </p:nvSpPr>
        <p:spPr>
          <a:xfrm>
            <a:off x="4422412" y="4841070"/>
            <a:ext cx="672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Freezer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60B72B8B-0CF4-9EDF-D4B2-CAF9E5D989BF}"/>
              </a:ext>
            </a:extLst>
          </p:cNvPr>
          <p:cNvSpPr/>
          <p:nvPr/>
        </p:nvSpPr>
        <p:spPr>
          <a:xfrm>
            <a:off x="5840573" y="4845535"/>
            <a:ext cx="1903308" cy="268069"/>
          </a:xfrm>
          <a:prstGeom prst="roundRect">
            <a:avLst/>
          </a:prstGeom>
          <a:gradFill flip="none" rotWithShape="1">
            <a:gsLst>
              <a:gs pos="66000">
                <a:srgbClr val="FFC000"/>
              </a:gs>
              <a:gs pos="33000">
                <a:srgbClr val="00B050"/>
              </a:gs>
              <a:gs pos="0">
                <a:srgbClr val="0070C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35C1D319-7CBE-F83B-F790-27ECFB9C4F3B}"/>
              </a:ext>
            </a:extLst>
          </p:cNvPr>
          <p:cNvSpPr/>
          <p:nvPr/>
        </p:nvSpPr>
        <p:spPr>
          <a:xfrm>
            <a:off x="6786319" y="5032236"/>
            <a:ext cx="207766" cy="17910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D31F12-04A5-81A9-8674-FC93CAF41AF9}"/>
              </a:ext>
            </a:extLst>
          </p:cNvPr>
          <p:cNvSpPr txBox="1"/>
          <p:nvPr/>
        </p:nvSpPr>
        <p:spPr>
          <a:xfrm>
            <a:off x="7676235" y="4841070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£0.82/hr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7666D9-A8CD-2E92-8573-C2E90140AC92}"/>
              </a:ext>
            </a:extLst>
          </p:cNvPr>
          <p:cNvSpPr txBox="1"/>
          <p:nvPr/>
        </p:nvSpPr>
        <p:spPr>
          <a:xfrm>
            <a:off x="4422412" y="5298951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Hob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29A0820-E946-8DCB-FF8E-E2A36018CC4E}"/>
              </a:ext>
            </a:extLst>
          </p:cNvPr>
          <p:cNvSpPr/>
          <p:nvPr/>
        </p:nvSpPr>
        <p:spPr>
          <a:xfrm>
            <a:off x="5840573" y="5303416"/>
            <a:ext cx="1903308" cy="268069"/>
          </a:xfrm>
          <a:prstGeom prst="roundRect">
            <a:avLst/>
          </a:prstGeom>
          <a:gradFill flip="none" rotWithShape="1">
            <a:gsLst>
              <a:gs pos="66000">
                <a:srgbClr val="FFC000"/>
              </a:gs>
              <a:gs pos="33000">
                <a:srgbClr val="00B050"/>
              </a:gs>
              <a:gs pos="0">
                <a:srgbClr val="0070C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97D5FF99-9157-2951-C9D3-3A1D68D289FF}"/>
              </a:ext>
            </a:extLst>
          </p:cNvPr>
          <p:cNvSpPr/>
          <p:nvPr/>
        </p:nvSpPr>
        <p:spPr>
          <a:xfrm>
            <a:off x="7321121" y="5490117"/>
            <a:ext cx="207766" cy="17910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CF2865-42E6-3DD6-3D8F-C7F3F3510440}"/>
              </a:ext>
            </a:extLst>
          </p:cNvPr>
          <p:cNvSpPr txBox="1"/>
          <p:nvPr/>
        </p:nvSpPr>
        <p:spPr>
          <a:xfrm>
            <a:off x="7676235" y="5298951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£1.32/hr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7ACBCD-DF7B-BB8C-879A-253DA18AC511}"/>
              </a:ext>
            </a:extLst>
          </p:cNvPr>
          <p:cNvSpPr txBox="1"/>
          <p:nvPr/>
        </p:nvSpPr>
        <p:spPr>
          <a:xfrm>
            <a:off x="4422412" y="5753721"/>
            <a:ext cx="607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Server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BC0CDEC5-4943-0F10-4BDC-E70EFFF0DB52}"/>
              </a:ext>
            </a:extLst>
          </p:cNvPr>
          <p:cNvSpPr/>
          <p:nvPr/>
        </p:nvSpPr>
        <p:spPr>
          <a:xfrm>
            <a:off x="5840573" y="5758186"/>
            <a:ext cx="1903308" cy="268069"/>
          </a:xfrm>
          <a:prstGeom prst="roundRect">
            <a:avLst/>
          </a:prstGeom>
          <a:gradFill flip="none" rotWithShape="1">
            <a:gsLst>
              <a:gs pos="66000">
                <a:srgbClr val="FFC000"/>
              </a:gs>
              <a:gs pos="33000">
                <a:srgbClr val="00B050"/>
              </a:gs>
              <a:gs pos="0">
                <a:srgbClr val="0070C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5686D027-FA76-7F79-AC9A-D832A5D3F7F6}"/>
              </a:ext>
            </a:extLst>
          </p:cNvPr>
          <p:cNvSpPr/>
          <p:nvPr/>
        </p:nvSpPr>
        <p:spPr>
          <a:xfrm>
            <a:off x="6533827" y="5944887"/>
            <a:ext cx="207766" cy="17910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85BA92-A037-E34E-283A-AE5B19C52D08}"/>
              </a:ext>
            </a:extLst>
          </p:cNvPr>
          <p:cNvSpPr txBox="1"/>
          <p:nvPr/>
        </p:nvSpPr>
        <p:spPr>
          <a:xfrm>
            <a:off x="7676235" y="5753721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£0.32/hr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0DCA49-F8EC-360C-FF4B-DDF9222F27EB}"/>
              </a:ext>
            </a:extLst>
          </p:cNvPr>
          <p:cNvSpPr txBox="1"/>
          <p:nvPr/>
        </p:nvSpPr>
        <p:spPr>
          <a:xfrm>
            <a:off x="4422412" y="6216596"/>
            <a:ext cx="6818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Shower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280B1A3-C5A6-8ADF-D4D4-70336030E4C1}"/>
              </a:ext>
            </a:extLst>
          </p:cNvPr>
          <p:cNvSpPr/>
          <p:nvPr/>
        </p:nvSpPr>
        <p:spPr>
          <a:xfrm>
            <a:off x="5840573" y="6221061"/>
            <a:ext cx="1903308" cy="268069"/>
          </a:xfrm>
          <a:prstGeom prst="roundRect">
            <a:avLst/>
          </a:prstGeom>
          <a:gradFill flip="none" rotWithShape="1">
            <a:gsLst>
              <a:gs pos="66000">
                <a:srgbClr val="FFC000"/>
              </a:gs>
              <a:gs pos="33000">
                <a:srgbClr val="00B050"/>
              </a:gs>
              <a:gs pos="0">
                <a:srgbClr val="0070C0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2FD900AD-88D4-DE22-F1DD-A6E17810DE10}"/>
              </a:ext>
            </a:extLst>
          </p:cNvPr>
          <p:cNvSpPr/>
          <p:nvPr/>
        </p:nvSpPr>
        <p:spPr>
          <a:xfrm>
            <a:off x="6103112" y="6407762"/>
            <a:ext cx="207766" cy="17910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5E3A69-9AE6-C4BD-1272-3181F769FC70}"/>
              </a:ext>
            </a:extLst>
          </p:cNvPr>
          <p:cNvSpPr txBox="1"/>
          <p:nvPr/>
        </p:nvSpPr>
        <p:spPr>
          <a:xfrm>
            <a:off x="7676235" y="6216596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£0.10/hr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DA0384-4153-EA65-59C2-9AC881FF6366}"/>
              </a:ext>
            </a:extLst>
          </p:cNvPr>
          <p:cNvSpPr txBox="1"/>
          <p:nvPr/>
        </p:nvSpPr>
        <p:spPr>
          <a:xfrm>
            <a:off x="8335544" y="1642228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A68B5C4-6677-AA5F-D322-B4B9317DE848}"/>
              </a:ext>
            </a:extLst>
          </p:cNvPr>
          <p:cNvSpPr txBox="1"/>
          <p:nvPr/>
        </p:nvSpPr>
        <p:spPr>
          <a:xfrm>
            <a:off x="8335544" y="2096998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£0.82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24B55DF-5479-22C3-748C-514C0B180794}"/>
              </a:ext>
            </a:extLst>
          </p:cNvPr>
          <p:cNvSpPr txBox="1"/>
          <p:nvPr/>
        </p:nvSpPr>
        <p:spPr>
          <a:xfrm>
            <a:off x="8335544" y="2554879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£1.32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F7D7EF-427E-A47A-AD1D-61B99E004947}"/>
              </a:ext>
            </a:extLst>
          </p:cNvPr>
          <p:cNvSpPr txBox="1"/>
          <p:nvPr/>
        </p:nvSpPr>
        <p:spPr>
          <a:xfrm>
            <a:off x="8335544" y="3009649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£0.32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BBA8D10-F722-1C94-1881-2040A3AE92D6}"/>
              </a:ext>
            </a:extLst>
          </p:cNvPr>
          <p:cNvSpPr txBox="1"/>
          <p:nvPr/>
        </p:nvSpPr>
        <p:spPr>
          <a:xfrm>
            <a:off x="8335544" y="3472524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£0.10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A5112B-30AC-9EEE-7C30-E1B790C564EE}"/>
              </a:ext>
            </a:extLst>
          </p:cNvPr>
          <p:cNvSpPr txBox="1"/>
          <p:nvPr/>
        </p:nvSpPr>
        <p:spPr>
          <a:xfrm>
            <a:off x="8335544" y="3927294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£1.02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CDB6115-EAE0-DEBC-1B6E-A0319FD4470E}"/>
              </a:ext>
            </a:extLst>
          </p:cNvPr>
          <p:cNvSpPr txBox="1"/>
          <p:nvPr/>
        </p:nvSpPr>
        <p:spPr>
          <a:xfrm>
            <a:off x="8342656" y="4377599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D369C8-B8C8-FA88-BA7C-67FD67C3B85A}"/>
              </a:ext>
            </a:extLst>
          </p:cNvPr>
          <p:cNvSpPr txBox="1"/>
          <p:nvPr/>
        </p:nvSpPr>
        <p:spPr>
          <a:xfrm>
            <a:off x="8342656" y="4832369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£0.82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5B7C0B1-C3B9-F50D-CB53-6D42EB68E14B}"/>
              </a:ext>
            </a:extLst>
          </p:cNvPr>
          <p:cNvSpPr txBox="1"/>
          <p:nvPr/>
        </p:nvSpPr>
        <p:spPr>
          <a:xfrm>
            <a:off x="8342656" y="529025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£1.32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F8D376B-EAF4-4229-33A0-ADDB0ECF451B}"/>
              </a:ext>
            </a:extLst>
          </p:cNvPr>
          <p:cNvSpPr txBox="1"/>
          <p:nvPr/>
        </p:nvSpPr>
        <p:spPr>
          <a:xfrm>
            <a:off x="8342656" y="574502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£0.32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595C9CB-6C31-1729-B6A9-89BEE289B3CC}"/>
              </a:ext>
            </a:extLst>
          </p:cNvPr>
          <p:cNvSpPr txBox="1"/>
          <p:nvPr/>
        </p:nvSpPr>
        <p:spPr>
          <a:xfrm>
            <a:off x="8342656" y="6207895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£0.10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DAF2B0C-D716-9141-0038-D07190D60FC7}"/>
              </a:ext>
            </a:extLst>
          </p:cNvPr>
          <p:cNvCxnSpPr>
            <a:cxnSpLocks/>
          </p:cNvCxnSpPr>
          <p:nvPr/>
        </p:nvCxnSpPr>
        <p:spPr>
          <a:xfrm flipV="1">
            <a:off x="3526224" y="1790700"/>
            <a:ext cx="1017201" cy="1964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89D2D1E-FC03-6F60-25D5-67613C95A4DF}"/>
              </a:ext>
            </a:extLst>
          </p:cNvPr>
          <p:cNvSpPr txBox="1"/>
          <p:nvPr/>
        </p:nvSpPr>
        <p:spPr>
          <a:xfrm flipH="1">
            <a:off x="1485326" y="1833247"/>
            <a:ext cx="286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Entity Name: overridable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3815A8D-9E58-7D3F-7CEB-2AC6124C390D}"/>
              </a:ext>
            </a:extLst>
          </p:cNvPr>
          <p:cNvSpPr txBox="1"/>
          <p:nvPr/>
        </p:nvSpPr>
        <p:spPr>
          <a:xfrm flipH="1">
            <a:off x="1284517" y="2364365"/>
            <a:ext cx="2867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Power arrow showing current consumption of entity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E460B95-A8D2-F4F2-E9C0-BE22DE350EE0}"/>
              </a:ext>
            </a:extLst>
          </p:cNvPr>
          <p:cNvCxnSpPr>
            <a:cxnSpLocks/>
          </p:cNvCxnSpPr>
          <p:nvPr/>
        </p:nvCxnSpPr>
        <p:spPr>
          <a:xfrm flipV="1">
            <a:off x="3647423" y="1962150"/>
            <a:ext cx="2610502" cy="5437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67A244A-6D0A-66BD-DD7C-3E38694774A1}"/>
              </a:ext>
            </a:extLst>
          </p:cNvPr>
          <p:cNvCxnSpPr>
            <a:cxnSpLocks/>
          </p:cNvCxnSpPr>
          <p:nvPr/>
        </p:nvCxnSpPr>
        <p:spPr>
          <a:xfrm flipH="1" flipV="1">
            <a:off x="8743950" y="1781175"/>
            <a:ext cx="828481" cy="240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88048AB-08A4-ED39-8DFF-512DAF49CDE6}"/>
              </a:ext>
            </a:extLst>
          </p:cNvPr>
          <p:cNvSpPr txBox="1"/>
          <p:nvPr/>
        </p:nvSpPr>
        <p:spPr>
          <a:xfrm flipH="1">
            <a:off x="9109516" y="1257507"/>
            <a:ext cx="2867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Power bar that range can be set by user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18BC8B4-DD1D-ACA9-EFD8-4D6597F48F47}"/>
              </a:ext>
            </a:extLst>
          </p:cNvPr>
          <p:cNvCxnSpPr>
            <a:cxnSpLocks/>
          </p:cNvCxnSpPr>
          <p:nvPr/>
        </p:nvCxnSpPr>
        <p:spPr>
          <a:xfrm flipH="1">
            <a:off x="7743881" y="1400910"/>
            <a:ext cx="1365635" cy="2595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C7A6D681-DC5A-8AFF-3996-24CF278EC710}"/>
              </a:ext>
            </a:extLst>
          </p:cNvPr>
          <p:cNvSpPr txBox="1"/>
          <p:nvPr/>
        </p:nvSpPr>
        <p:spPr>
          <a:xfrm flipH="1">
            <a:off x="9489279" y="1852249"/>
            <a:ext cx="286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entity cost since midnight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0917519-D6DB-5941-BBE5-D0567487237E}"/>
              </a:ext>
            </a:extLst>
          </p:cNvPr>
          <p:cNvCxnSpPr>
            <a:cxnSpLocks/>
          </p:cNvCxnSpPr>
          <p:nvPr/>
        </p:nvCxnSpPr>
        <p:spPr>
          <a:xfrm flipH="1" flipV="1">
            <a:off x="8230736" y="1859252"/>
            <a:ext cx="1236887" cy="5899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6C9731D-D740-11D8-5AA0-7118A647C9C7}"/>
              </a:ext>
            </a:extLst>
          </p:cNvPr>
          <p:cNvSpPr txBox="1"/>
          <p:nvPr/>
        </p:nvSpPr>
        <p:spPr>
          <a:xfrm flipH="1">
            <a:off x="9384471" y="2280275"/>
            <a:ext cx="2867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Calculated entity instantaneous cost per hour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FF0991F-DB70-104C-5598-7F48D137C691}"/>
              </a:ext>
            </a:extLst>
          </p:cNvPr>
          <p:cNvSpPr txBox="1"/>
          <p:nvPr/>
        </p:nvSpPr>
        <p:spPr>
          <a:xfrm flipH="1">
            <a:off x="1103598" y="1064909"/>
            <a:ext cx="286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total cost since midnight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4D97FE7-EFC8-D863-7A07-66E9EAE2AEBF}"/>
              </a:ext>
            </a:extLst>
          </p:cNvPr>
          <p:cNvCxnSpPr>
            <a:cxnSpLocks/>
          </p:cNvCxnSpPr>
          <p:nvPr/>
        </p:nvCxnSpPr>
        <p:spPr>
          <a:xfrm flipV="1">
            <a:off x="3114675" y="1104900"/>
            <a:ext cx="1409700" cy="1078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9DB40BD9-548E-324E-35D7-2C98DC63B63F}"/>
              </a:ext>
            </a:extLst>
          </p:cNvPr>
          <p:cNvSpPr txBox="1"/>
          <p:nvPr/>
        </p:nvSpPr>
        <p:spPr>
          <a:xfrm flipH="1">
            <a:off x="5271625" y="9686"/>
            <a:ext cx="3668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Power bar showing current total consumption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B24211B-8C99-6872-71AE-240AEC64D317}"/>
              </a:ext>
            </a:extLst>
          </p:cNvPr>
          <p:cNvCxnSpPr>
            <a:cxnSpLocks/>
          </p:cNvCxnSpPr>
          <p:nvPr/>
        </p:nvCxnSpPr>
        <p:spPr>
          <a:xfrm>
            <a:off x="7277100" y="247650"/>
            <a:ext cx="476250" cy="5810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887DDC5F-AFF2-8251-910D-C48473FDD717}"/>
              </a:ext>
            </a:extLst>
          </p:cNvPr>
          <p:cNvSpPr txBox="1"/>
          <p:nvPr/>
        </p:nvSpPr>
        <p:spPr>
          <a:xfrm flipH="1">
            <a:off x="9467623" y="713634"/>
            <a:ext cx="2867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Power arrow showing current total consumption of entity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68ED829-DCF7-588A-73AF-5DC4153F6A40}"/>
              </a:ext>
            </a:extLst>
          </p:cNvPr>
          <p:cNvCxnSpPr>
            <a:cxnSpLocks/>
          </p:cNvCxnSpPr>
          <p:nvPr/>
        </p:nvCxnSpPr>
        <p:spPr>
          <a:xfrm flipH="1">
            <a:off x="7810500" y="990600"/>
            <a:ext cx="1771650" cy="57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26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176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Caterpillar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Constantinou</dc:creator>
  <cp:lastModifiedBy>Nick Constantinou</cp:lastModifiedBy>
  <cp:revision>1</cp:revision>
  <dcterms:created xsi:type="dcterms:W3CDTF">2026-07-01T10:25:32Z</dcterms:created>
  <dcterms:modified xsi:type="dcterms:W3CDTF">2026-07-01T10:26:39Z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5e2db6-eecf-4aa2-8fc3-174bf94bce19_Enabled">
    <vt:lpwstr>true</vt:lpwstr>
  </property>
  <property fmtid="{D5CDD505-2E9C-101B-9397-08002B2CF9AE}" pid="3" name="MSIP_Label_fb5e2db6-eecf-4aa2-8fc3-174bf94bce19_SetDate">
    <vt:lpwstr>2026-07-01T10:25:32Z</vt:lpwstr>
  </property>
  <property fmtid="{D5CDD505-2E9C-101B-9397-08002B2CF9AE}" pid="4" name="MSIP_Label_fb5e2db6-eecf-4aa2-8fc3-174bf94bce19_Method">
    <vt:lpwstr>Standard</vt:lpwstr>
  </property>
  <property fmtid="{D5CDD505-2E9C-101B-9397-08002B2CF9AE}" pid="5" name="MSIP_Label_fb5e2db6-eecf-4aa2-8fc3-174bf94bce19_Name">
    <vt:lpwstr>fb5e2db6-eecf-4aa2-8fc3-174bf94bce19</vt:lpwstr>
  </property>
  <property fmtid="{D5CDD505-2E9C-101B-9397-08002B2CF9AE}" pid="6" name="MSIP_Label_fb5e2db6-eecf-4aa2-8fc3-174bf94bce19_SiteId">
    <vt:lpwstr>ceb177bf-013b-49ab-8a9c-4abce32afc1e</vt:lpwstr>
  </property>
  <property fmtid="{D5CDD505-2E9C-101B-9397-08002B2CF9AE}" pid="7" name="MSIP_Label_fb5e2db6-eecf-4aa2-8fc3-174bf94bce19_ActionId">
    <vt:lpwstr>4f92028c-7415-4fff-8cfc-3179b670521a</vt:lpwstr>
  </property>
  <property fmtid="{D5CDD505-2E9C-101B-9397-08002B2CF9AE}" pid="8" name="MSIP_Label_fb5e2db6-eecf-4aa2-8fc3-174bf94bce19_ContentBits">
    <vt:lpwstr>2</vt:lpwstr>
  </property>
  <property fmtid="{D5CDD505-2E9C-101B-9397-08002B2CF9AE}" pid="9" name="MSIP_Label_fb5e2db6-eecf-4aa2-8fc3-174bf94bce19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Caterpillar: Confidential Green</vt:lpwstr>
  </property>
</Properties>
</file>